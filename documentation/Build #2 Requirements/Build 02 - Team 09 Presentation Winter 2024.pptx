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256" r:id="rId5"/>
    <p:sldId id="257" r:id="rId6"/>
    <p:sldId id="258" r:id="rId7"/>
    <p:sldId id="285" r:id="rId8"/>
    <p:sldId id="280" r:id="rId9"/>
    <p:sldId id="281" r:id="rId10"/>
    <p:sldId id="282" r:id="rId11"/>
    <p:sldId id="283" r:id="rId12"/>
    <p:sldId id="284"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0704" autoAdjust="0"/>
  </p:normalViewPr>
  <p:slideViewPr>
    <p:cSldViewPr snapToGrid="0">
      <p:cViewPr varScale="1">
        <p:scale>
          <a:sx n="100" d="100"/>
          <a:sy n="100" d="100"/>
        </p:scale>
        <p:origin x="786" y="9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3/17/2024</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3/17/2024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spc="150" baseline="0"/>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8" name="Graphic 7">
            <a:extLst>
              <a:ext uri="{FF2B5EF4-FFF2-40B4-BE49-F238E27FC236}">
                <a16:creationId xmlns:a16="http://schemas.microsoft.com/office/drawing/2014/main" id="{A04F1E16-9A84-4D0E-9706-79C396AF6AE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500" y="2924175"/>
            <a:ext cx="2895600" cy="2519363"/>
          </a:xfrm>
        </p:spPr>
        <p:txBody>
          <a:bodyPr>
            <a:normAutofit/>
          </a:bodyPr>
          <a:lstStyle>
            <a:lvl1pPr marL="0" indent="0">
              <a:lnSpc>
                <a:spcPct val="150000"/>
              </a:lnSpc>
              <a:buNone/>
              <a:defRPr sz="1400">
                <a:solidFill>
                  <a:schemeClr val="bg1"/>
                </a:solidFill>
              </a:defRPr>
            </a:lvl1pPr>
            <a:lvl2pPr marL="457200" indent="0">
              <a:lnSpc>
                <a:spcPct val="150000"/>
              </a:lnSpc>
              <a:buNone/>
              <a:defRPr sz="1400">
                <a:solidFill>
                  <a:schemeClr val="bg1"/>
                </a:solidFill>
              </a:defRPr>
            </a:lvl2pPr>
            <a:lvl3pPr marL="914400" indent="0">
              <a:lnSpc>
                <a:spcPct val="150000"/>
              </a:lnSpc>
              <a:buNone/>
              <a:defRPr sz="1400">
                <a:solidFill>
                  <a:schemeClr val="bg1"/>
                </a:solidFill>
              </a:defRPr>
            </a:lvl3pPr>
            <a:lvl4pPr marL="1371600" indent="0">
              <a:lnSpc>
                <a:spcPct val="150000"/>
              </a:lnSpc>
              <a:buNone/>
              <a:defRPr sz="1400">
                <a:solidFill>
                  <a:schemeClr val="bg1"/>
                </a:solidFill>
              </a:defRPr>
            </a:lvl4pPr>
            <a:lvl5pPr marL="1828800" indent="0">
              <a:lnSpc>
                <a:spcPct val="150000"/>
              </a:lnSpc>
              <a:buNone/>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11EBF9-6826-475B-8079-C11128991BAE}"/>
              </a:ext>
            </a:extLst>
          </p:cNvPr>
          <p:cNvSpPr>
            <a:spLocks noGrp="1"/>
          </p:cNvSpPr>
          <p:nvPr>
            <p:ph type="dt" sz="half" idx="10"/>
          </p:nvPr>
        </p:nvSpPr>
        <p:spPr>
          <a:xfrm>
            <a:off x="838200" y="6356350"/>
            <a:ext cx="1219200"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3FB726A3-DF54-47D2-8C3A-34FD43A19E8E}"/>
              </a:ext>
            </a:extLst>
          </p:cNvPr>
          <p:cNvSpPr>
            <a:spLocks noGrp="1"/>
          </p:cNvSpPr>
          <p:nvPr>
            <p:ph type="ftr" sz="quarter" idx="11"/>
          </p:nvPr>
        </p:nvSpPr>
        <p:spPr>
          <a:xfrm>
            <a:off x="2463800" y="6356350"/>
            <a:ext cx="3479800" cy="365125"/>
          </a:xfrm>
        </p:spPr>
        <p:txBody>
          <a:bodyPr/>
          <a:lstStyle>
            <a:lvl1pPr>
              <a:defRPr sz="900"/>
            </a:lvl1pPr>
          </a:lstStyle>
          <a:p>
            <a:r>
              <a:rPr lang="en-US" dirty="0"/>
              <a:t>PRESENTATION TITLE</a:t>
            </a:r>
          </a:p>
        </p:txBody>
      </p:sp>
      <p:sp>
        <p:nvSpPr>
          <p:cNvPr id="6" name="Slide Number Placeholder 5">
            <a:extLst>
              <a:ext uri="{FF2B5EF4-FFF2-40B4-BE49-F238E27FC236}">
                <a16:creationId xmlns:a16="http://schemas.microsoft.com/office/drawing/2014/main" id="{D0CD125A-4493-4967-9146-841D0EF3BC63}"/>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7" name="Group 6">
            <a:extLst>
              <a:ext uri="{FF2B5EF4-FFF2-40B4-BE49-F238E27FC236}">
                <a16:creationId xmlns:a16="http://schemas.microsoft.com/office/drawing/2014/main" id="{D7A1CF8B-3479-49A3-A30E-2F2ECE962075}"/>
              </a:ext>
            </a:extLst>
          </p:cNvPr>
          <p:cNvGrpSpPr/>
          <p:nvPr userDrawn="1"/>
        </p:nvGrpSpPr>
        <p:grpSpPr>
          <a:xfrm>
            <a:off x="6953250" y="-25401"/>
            <a:ext cx="5238750" cy="6902451"/>
            <a:chOff x="6953250" y="-25401"/>
            <a:chExt cx="5238750" cy="6902451"/>
          </a:xfrm>
        </p:grpSpPr>
        <p:cxnSp>
          <p:nvCxnSpPr>
            <p:cNvPr id="14" name="Straight Connector 13">
              <a:extLst>
                <a:ext uri="{FF2B5EF4-FFF2-40B4-BE49-F238E27FC236}">
                  <a16:creationId xmlns:a16="http://schemas.microsoft.com/office/drawing/2014/main" id="{49FBD260-5143-4B12-B9F8-33E48D548909}"/>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userDrawn="1"/>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49735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Brea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148840"/>
            <a:ext cx="4179570" cy="1715531"/>
          </a:xfrm>
        </p:spPr>
        <p:txBody>
          <a:bodyPr anchor="b">
            <a:noAutofit/>
          </a:bodyPr>
          <a:lstStyle>
            <a:lvl1pPr algn="l">
              <a:defRPr sz="3600" spc="15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991350" y="3962003"/>
            <a:ext cx="4179570" cy="365125"/>
          </a:xfrm>
        </p:spPr>
        <p:txBody>
          <a:bodyPr>
            <a:norm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2699512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111608"/>
            <a:ext cx="10515600" cy="3744912"/>
          </a:xfrm>
        </p:spPr>
        <p:txBody>
          <a:bodyPr/>
          <a:lstStyle/>
          <a:p>
            <a:r>
              <a:rPr lang="en-US"/>
              <a:t>Click icon to add chart</a:t>
            </a:r>
            <a:endParaRPr lang="en-US" dirty="0"/>
          </a:p>
        </p:txBody>
      </p:sp>
    </p:spTree>
    <p:extLst>
      <p:ext uri="{BB962C8B-B14F-4D97-AF65-F5344CB8AC3E}">
        <p14:creationId xmlns:p14="http://schemas.microsoft.com/office/powerpoint/2010/main" val="1485277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744913"/>
          </a:xfrm>
        </p:spPr>
        <p:txBody>
          <a:bodyPr/>
          <a:lstStyle/>
          <a:p>
            <a:r>
              <a:rPr lang="en-US"/>
              <a:t>Click icon to add table</a:t>
            </a:r>
            <a:endParaRPr lang="en-US" dirty="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4657724" y="2809875"/>
            <a:ext cx="6696075" cy="1909763"/>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10" name="Subtitle 2">
            <a:extLst>
              <a:ext uri="{FF2B5EF4-FFF2-40B4-BE49-F238E27FC236}">
                <a16:creationId xmlns:a16="http://schemas.microsoft.com/office/drawing/2014/main" id="{104828DA-5EC5-4A00-9A7B-CD9668EF24D1}"/>
              </a:ext>
            </a:extLst>
          </p:cNvPr>
          <p:cNvSpPr>
            <a:spLocks noGrp="1"/>
          </p:cNvSpPr>
          <p:nvPr>
            <p:ph type="subTitle" idx="1"/>
          </p:nvPr>
        </p:nvSpPr>
        <p:spPr>
          <a:xfrm>
            <a:off x="4657725" y="5028803"/>
            <a:ext cx="6696074" cy="365125"/>
          </a:xfrm>
        </p:spPr>
        <p:txBody>
          <a:bodyPr anchor="b">
            <a:normAutofit/>
          </a:bodyPr>
          <a:lstStyle>
            <a:lvl1pPr marL="0" indent="0" algn="l">
              <a:buNone/>
              <a:defRPr sz="160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Date Placeholder 2">
            <a:extLst>
              <a:ext uri="{FF2B5EF4-FFF2-40B4-BE49-F238E27FC236}">
                <a16:creationId xmlns:a16="http://schemas.microsoft.com/office/drawing/2014/main" id="{D9303E9A-96BC-4283-A6E1-5948AEB119F4}"/>
              </a:ext>
            </a:extLst>
          </p:cNvPr>
          <p:cNvSpPr>
            <a:spLocks noGrp="1"/>
          </p:cNvSpPr>
          <p:nvPr>
            <p:ph type="dt" sz="half" idx="10"/>
          </p:nvPr>
        </p:nvSpPr>
        <p:spPr>
          <a:xfrm>
            <a:off x="4676774" y="6356350"/>
            <a:ext cx="1695450"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45A19C49-052B-4D3E-B227-1D787463CE96}"/>
              </a:ext>
            </a:extLst>
          </p:cNvPr>
          <p:cNvSpPr>
            <a:spLocks noGrp="1"/>
          </p:cNvSpPr>
          <p:nvPr>
            <p:ph type="ftr" sz="quarter" idx="11"/>
          </p:nvPr>
        </p:nvSpPr>
        <p:spPr>
          <a:xfrm>
            <a:off x="6743699" y="6356350"/>
            <a:ext cx="2543175" cy="365125"/>
          </a:xfrm>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4E5E724A-95F0-41B6-A77E-EDD067272C27}"/>
              </a:ext>
            </a:extLst>
          </p:cNvPr>
          <p:cNvSpPr>
            <a:spLocks noGrp="1"/>
          </p:cNvSpPr>
          <p:nvPr>
            <p:ph type="sldNum" sz="quarter" idx="12"/>
          </p:nvPr>
        </p:nvSpPr>
        <p:spPr>
          <a:xfrm>
            <a:off x="9658350" y="6356350"/>
            <a:ext cx="1695450" cy="365125"/>
          </a:xfrm>
        </p:spPr>
        <p:txBody>
          <a:bodyPr/>
          <a:lstStyle>
            <a:lvl1pPr>
              <a:defRPr sz="900"/>
            </a:lvl1pPr>
          </a:lstStyle>
          <a:p>
            <a:fld id="{A49DFD55-3C28-40EF-9E31-A92D2E4017FF}" type="slidenum">
              <a:rPr lang="en-US" smtClean="0"/>
              <a:pPr/>
              <a:t>‹#›</a:t>
            </a:fld>
            <a:endParaRPr lang="en-US" dirty="0"/>
          </a:p>
        </p:txBody>
      </p:sp>
      <p:cxnSp>
        <p:nvCxnSpPr>
          <p:cNvPr id="9" name="Straight Connector 8">
            <a:extLst>
              <a:ext uri="{FF2B5EF4-FFF2-40B4-BE49-F238E27FC236}">
                <a16:creationId xmlns:a16="http://schemas.microsoft.com/office/drawing/2014/main" id="{BDAC7E4E-FE06-4E90-8107-6B543E5515ED}"/>
              </a:ext>
              <a:ext uri="{C183D7F6-B498-43B3-948B-1728B52AA6E4}">
                <adec:decorative xmlns:adec="http://schemas.microsoft.com/office/drawing/2017/decorative" val="1"/>
              </a:ext>
            </a:extLst>
          </p:cNvPr>
          <p:cNvCxnSpPr/>
          <p:nvPr userDrawn="1"/>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3065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28568"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lstStyle/>
          <a:p>
            <a:r>
              <a:rPr lang="en-US"/>
              <a:t>Click icon to add picture</a:t>
            </a:r>
            <a:endParaRPr lang="en-US" dirty="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578300" y="5084524"/>
            <a:ext cx="233081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lstStyle/>
          <a:p>
            <a:pPr lvl="1"/>
            <a:r>
              <a:rPr lang="en-US"/>
              <a:t>Click icon to add picture</a:t>
            </a:r>
            <a:endParaRPr lang="en-US" dirty="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068964"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lstStyle/>
          <a:p>
            <a:r>
              <a:rPr lang="en-US"/>
              <a:t>Click icon to add picture</a:t>
            </a:r>
            <a:endParaRPr lang="en-US" dirty="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488845" y="5084524"/>
            <a:ext cx="231770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4" name="Group 3">
            <a:extLst>
              <a:ext uri="{FF2B5EF4-FFF2-40B4-BE49-F238E27FC236}">
                <a16:creationId xmlns:a16="http://schemas.microsoft.com/office/drawing/2014/main" id="{73C911F2-9041-416A-B83C-F23B354E063B}"/>
              </a:ext>
              <a:ext uri="{C183D7F6-B498-43B3-948B-1728B52AA6E4}">
                <adec:decorative xmlns:adec="http://schemas.microsoft.com/office/drawing/2017/decorative" val="1"/>
              </a:ext>
            </a:extLst>
          </p:cNvPr>
          <p:cNvGrpSpPr/>
          <p:nvPr userDrawn="1"/>
        </p:nvGrpSpPr>
        <p:grpSpPr>
          <a:xfrm>
            <a:off x="7334250" y="0"/>
            <a:ext cx="4857750" cy="1724025"/>
            <a:chOff x="7334250" y="0"/>
            <a:chExt cx="4857750" cy="1724025"/>
          </a:xfrm>
        </p:grpSpPr>
        <p:cxnSp>
          <p:nvCxnSpPr>
            <p:cNvPr id="10" name="Straight Connector 9">
              <a:extLst>
                <a:ext uri="{FF2B5EF4-FFF2-40B4-BE49-F238E27FC236}">
                  <a16:creationId xmlns:a16="http://schemas.microsoft.com/office/drawing/2014/main" id="{4E4B72DA-52CB-4D39-A342-8857B4D959B2}"/>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5122785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Slide 8 People">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87AAB93-862D-455E-9E73-3D0DAEFDEDB4}"/>
              </a:ext>
              <a:ext uri="{C183D7F6-B498-43B3-948B-1728B52AA6E4}">
                <adec:decorative xmlns:adec="http://schemas.microsoft.com/office/drawing/2017/decorative" val="1"/>
              </a:ext>
            </a:extLst>
          </p:cNvPr>
          <p:cNvGrpSpPr/>
          <p:nvPr userDrawn="1"/>
        </p:nvGrpSpPr>
        <p:grpSpPr>
          <a:xfrm>
            <a:off x="0" y="473953"/>
            <a:ext cx="12192000" cy="5621336"/>
            <a:chOff x="0" y="473953"/>
            <a:chExt cx="12192000" cy="5621336"/>
          </a:xfrm>
        </p:grpSpPr>
        <p:pic>
          <p:nvPicPr>
            <p:cNvPr id="13" name="Graphic 12">
              <a:extLst>
                <a:ext uri="{FF2B5EF4-FFF2-40B4-BE49-F238E27FC236}">
                  <a16:creationId xmlns:a16="http://schemas.microsoft.com/office/drawing/2014/main" id="{B0DFD584-E5CF-41EF-B51E-679CE22DDF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gr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gn="l">
              <a:lnSpc>
                <a:spcPct val="100000"/>
              </a:lnSpc>
              <a:buFont typeface="Arial" panose="020B0604020202020204" pitchFamily="34" charset="0"/>
              <a:buNone/>
              <a:defRPr sz="900">
                <a:solidFill>
                  <a:sysClr val="windowText" lastClr="000000"/>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500168"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49262"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32" name="Picture Placeholder 10">
            <a:extLst>
              <a:ext uri="{FF2B5EF4-FFF2-40B4-BE49-F238E27FC236}">
                <a16:creationId xmlns:a16="http://schemas.microsoft.com/office/drawing/2014/main" id="{1938DB4D-239F-4E8E-8802-0470B0131189}"/>
              </a:ext>
            </a:extLst>
          </p:cNvPr>
          <p:cNvSpPr>
            <a:spLocks noGrp="1"/>
          </p:cNvSpPr>
          <p:nvPr>
            <p:ph type="pic" sz="quarter" idx="37"/>
          </p:nvPr>
        </p:nvSpPr>
        <p:spPr>
          <a:xfrm>
            <a:off x="665558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355" y="3654378"/>
            <a:ext cx="2105135"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095999" y="3809747"/>
            <a:ext cx="2299855"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4480" y="3809747"/>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500168"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849262"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3" name="Picture Placeholder 10">
            <a:extLst>
              <a:ext uri="{FF2B5EF4-FFF2-40B4-BE49-F238E27FC236}">
                <a16:creationId xmlns:a16="http://schemas.microsoft.com/office/drawing/2014/main" id="{E029C5CA-EDDA-4BF9-9051-8B09E98EE1E2}"/>
              </a:ext>
            </a:extLst>
          </p:cNvPr>
          <p:cNvSpPr>
            <a:spLocks noGrp="1"/>
          </p:cNvSpPr>
          <p:nvPr>
            <p:ph type="pic" sz="quarter" idx="38"/>
          </p:nvPr>
        </p:nvSpPr>
        <p:spPr>
          <a:xfrm>
            <a:off x="665558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339926" y="5668583"/>
            <a:ext cx="1813474"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744480" y="5668583"/>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5712064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786F69D-D4FA-4075-A7EC-8D31A184F630}"/>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0" name="Straight Connector 9">
              <a:extLst>
                <a:ext uri="{FF2B5EF4-FFF2-40B4-BE49-F238E27FC236}">
                  <a16:creationId xmlns:a16="http://schemas.microsoft.com/office/drawing/2014/main" id="{66988B2D-0240-4256-8268-4B9FF1E72363}"/>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11375"/>
            <a:ext cx="10515600" cy="3744913"/>
          </a:xfrm>
        </p:spPr>
        <p:txBody>
          <a:bodyPr/>
          <a:lstStyle/>
          <a:p>
            <a:r>
              <a:rPr lang="en-US"/>
              <a:t>Click icon to add SmartArt graphic</a:t>
            </a:r>
            <a:endParaRPr lang="en-US" dirty="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6831155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p:nvPr>
        </p:nvSpPr>
        <p:spPr>
          <a:xfrm>
            <a:off x="166074" y="1507772"/>
            <a:ext cx="2141764" cy="514350"/>
          </a:xfrm>
        </p:spPr>
        <p:txBody>
          <a:bodyPr anchor="ctr">
            <a:normAutofit/>
          </a:bodyPr>
          <a:lstStyle>
            <a:lvl1pPr marL="0" indent="0" algn="r">
              <a:buNone/>
              <a:defRPr sz="2000"/>
            </a:lvl1pPr>
          </a:lstStyle>
          <a:p>
            <a:pPr lvl="0"/>
            <a:r>
              <a:rPr lang="en-US"/>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p:nvPr>
        </p:nvSpPr>
        <p:spPr>
          <a:xfrm>
            <a:off x="732131" y="2584097"/>
            <a:ext cx="2141764" cy="514350"/>
          </a:xfrm>
        </p:spPr>
        <p:txBody>
          <a:bodyPr anchor="ctr">
            <a:normAutofit/>
          </a:bodyPr>
          <a:lstStyle>
            <a:lvl1pPr marL="0" indent="0" algn="r">
              <a:buNone/>
              <a:defRPr sz="2000"/>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p:nvPr>
        </p:nvSpPr>
        <p:spPr>
          <a:xfrm>
            <a:off x="1338556" y="3660422"/>
            <a:ext cx="2141764" cy="514350"/>
          </a:xfrm>
        </p:spPr>
        <p:txBody>
          <a:bodyPr anchor="ctr">
            <a:normAutofit/>
          </a:bodyPr>
          <a:lstStyle>
            <a:lvl1pPr marL="0" indent="0" algn="r">
              <a:buNone/>
              <a:defRPr sz="2000"/>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p:nvPr>
        </p:nvSpPr>
        <p:spPr>
          <a:xfrm>
            <a:off x="1922756" y="4736748"/>
            <a:ext cx="2141764" cy="514350"/>
          </a:xfrm>
        </p:spPr>
        <p:txBody>
          <a:bodyPr anchor="ctr">
            <a:normAutofit/>
          </a:bodyPr>
          <a:lstStyle>
            <a:lvl1pPr marL="0" indent="0" algn="r">
              <a:buNone/>
              <a:defRPr sz="2000"/>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6" y="1613528"/>
            <a:ext cx="5102680" cy="1010842"/>
          </a:xfrm>
        </p:spPr>
        <p:txBody>
          <a:bodyPr anchor="t">
            <a:normAutofit/>
          </a:bodyPr>
          <a:lstStyle>
            <a:lvl1pPr marL="0" indent="0" algn="l">
              <a:lnSpc>
                <a:spcPct val="100000"/>
              </a:lnSpc>
              <a:buNone/>
              <a:defRPr sz="1400" spc="50" baseline="0"/>
            </a:lvl1pPr>
          </a:lstStyle>
          <a:p>
            <a:pPr lvl="0"/>
            <a:r>
              <a:rPr lang="en-US" dirty="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9" y="268256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8" y="375539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80" y="4824430"/>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749143" y="6356350"/>
            <a:ext cx="3775981" cy="365125"/>
          </a:xfrm>
        </p:spPr>
        <p:txBody>
          <a:bodyPr/>
          <a:lstStyle>
            <a:lvl1pPr>
              <a:defRPr sz="900"/>
            </a:lvl1pPr>
          </a:lstStyle>
          <a:p>
            <a:r>
              <a:rPr lang="en-US" dirty="0"/>
              <a:t>PRESENTATION TITLE</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A49DFD55-3C28-40EF-9E31-A92D2E4017FF}" type="slidenum">
              <a:rPr lang="en-US" smtClean="0"/>
              <a:pPr/>
              <a:t>‹#›</a:t>
            </a:fld>
            <a:endParaRPr lang="en-US" dirty="0"/>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userDrawn="1"/>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userDrawn="1"/>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userDrawn="1"/>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userDrawn="1"/>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165259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10" name="Group 9">
            <a:extLst>
              <a:ext uri="{FF2B5EF4-FFF2-40B4-BE49-F238E27FC236}">
                <a16:creationId xmlns:a16="http://schemas.microsoft.com/office/drawing/2014/main" id="{B2368EF4-1233-48C7-8DB5-75844BFCD594}"/>
              </a:ext>
              <a:ext uri="{C183D7F6-B498-43B3-948B-1728B52AA6E4}">
                <adec:decorative xmlns:adec="http://schemas.microsoft.com/office/drawing/2017/decorative" val="1"/>
              </a:ext>
            </a:extLst>
          </p:cNvPr>
          <p:cNvGrpSpPr/>
          <p:nvPr userDrawn="1"/>
        </p:nvGrpSpPr>
        <p:grpSpPr>
          <a:xfrm>
            <a:off x="0" y="0"/>
            <a:ext cx="2238376" cy="3105150"/>
            <a:chOff x="0" y="0"/>
            <a:chExt cx="2238376" cy="3105150"/>
          </a:xfrm>
        </p:grpSpPr>
        <p:cxnSp>
          <p:nvCxnSpPr>
            <p:cNvPr id="16" name="Straight Connector 15">
              <a:extLst>
                <a:ext uri="{FF2B5EF4-FFF2-40B4-BE49-F238E27FC236}">
                  <a16:creationId xmlns:a16="http://schemas.microsoft.com/office/drawing/2014/main" id="{463D7850-C2A6-43CE-BBE4-8E81A0A593BF}"/>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889671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a:extLst>
              <a:ext uri="{FF2B5EF4-FFF2-40B4-BE49-F238E27FC236}">
                <a16:creationId xmlns:a16="http://schemas.microsoft.com/office/drawing/2014/main" id="{D74AA03A-263D-4B5F-B05B-7D6923A9A4D3}"/>
              </a:ext>
            </a:extLst>
          </p:cNvPr>
          <p:cNvGrpSpPr/>
          <p:nvPr userDrawn="1"/>
        </p:nvGrpSpPr>
        <p:grpSpPr>
          <a:xfrm>
            <a:off x="0" y="0"/>
            <a:ext cx="4762501" cy="5186363"/>
            <a:chOff x="0" y="0"/>
            <a:chExt cx="4762501" cy="5186363"/>
          </a:xfrm>
        </p:grpSpPr>
        <p:cxnSp>
          <p:nvCxnSpPr>
            <p:cNvPr id="23" name="Straight Connector 22">
              <a:extLst>
                <a:ext uri="{FF2B5EF4-FFF2-40B4-BE49-F238E27FC236}">
                  <a16:creationId xmlns:a16="http://schemas.microsoft.com/office/drawing/2014/main" id="{D87F08D6-2CA7-4A5A-BE34-07113DCA535D}"/>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PRESENTATION TITLE</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1371997"/>
          </a:xfrm>
        </p:spPr>
        <p:txBody>
          <a:bodyPr>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1" r:id="rId4"/>
    <p:sldLayoutId id="2147483666" r:id="rId5"/>
    <p:sldLayoutId id="2147483667" r:id="rId6"/>
    <p:sldLayoutId id="2147483654" r:id="rId7"/>
    <p:sldLayoutId id="2147483663" r:id="rId8"/>
    <p:sldLayoutId id="2147483662" r:id="rId9"/>
    <p:sldLayoutId id="2147483668" r:id="rId10"/>
    <p:sldLayoutId id="2147483652" r:id="rId11"/>
    <p:sldLayoutId id="2147483653" r:id="rId12"/>
    <p:sldLayoutId id="2147483660" r:id="rId13"/>
    <p:sldLayoutId id="2147483664" r:id="rId14"/>
    <p:sldLayoutId id="2147483665" r:id="rId15"/>
  </p:sldLayoutIdLst>
  <p:hf hd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8F4EF4-91F5-0EFA-7491-C6CFF923F2A5}"/>
              </a:ext>
            </a:extLst>
          </p:cNvPr>
          <p:cNvSpPr>
            <a:spLocks noGrp="1"/>
          </p:cNvSpPr>
          <p:nvPr>
            <p:ph type="title"/>
          </p:nvPr>
        </p:nvSpPr>
        <p:spPr>
          <a:xfrm>
            <a:off x="1058779" y="962755"/>
            <a:ext cx="10074441" cy="2069433"/>
          </a:xfrm>
        </p:spPr>
        <p:txBody>
          <a:bodyPr anchor="t">
            <a:noAutofit/>
          </a:bodyPr>
          <a:lstStyle/>
          <a:p>
            <a:pPr algn="ctr"/>
            <a:r>
              <a:rPr lang="en-US" sz="3800" b="1" dirty="0">
                <a:latin typeface="Times New Roman" panose="02020603050405020304" pitchFamily="18" charset="0"/>
                <a:cs typeface="Times New Roman" panose="02020603050405020304" pitchFamily="18" charset="0"/>
              </a:rPr>
              <a:t>SoEN 6441 Advanced Programming Practices Project </a:t>
            </a:r>
            <a:br>
              <a:rPr lang="en-US" sz="3800" b="1" dirty="0">
                <a:latin typeface="Times New Roman" panose="02020603050405020304" pitchFamily="18" charset="0"/>
                <a:cs typeface="Times New Roman" panose="02020603050405020304" pitchFamily="18" charset="0"/>
              </a:rPr>
            </a:br>
            <a:r>
              <a:rPr lang="en-US" sz="3800" b="1" dirty="0">
                <a:latin typeface="Times New Roman" panose="02020603050405020304" pitchFamily="18" charset="0"/>
                <a:cs typeface="Times New Roman" panose="02020603050405020304" pitchFamily="18" charset="0"/>
              </a:rPr>
              <a:t> -Winter 2024</a:t>
            </a:r>
            <a:endParaRPr lang="en-IN" sz="3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236A1B4-B8D1-4A72-8E20-0703F54BF1FE}"/>
              </a:ext>
            </a:extLst>
          </p:cNvPr>
          <p:cNvSpPr>
            <a:spLocks noGrp="1"/>
          </p:cNvSpPr>
          <p:nvPr>
            <p:ph type="subTitle" idx="1"/>
          </p:nvPr>
        </p:nvSpPr>
        <p:spPr>
          <a:xfrm>
            <a:off x="4775534" y="3032188"/>
            <a:ext cx="6717631" cy="2258829"/>
          </a:xfrm>
        </p:spPr>
        <p:txBody>
          <a:bodyPr>
            <a:noAutofit/>
          </a:bodyPr>
          <a:lstStyle/>
          <a:p>
            <a:r>
              <a:rPr lang="en-US" sz="1800" b="1" dirty="0">
                <a:solidFill>
                  <a:schemeClr val="tx1"/>
                </a:solidFill>
                <a:latin typeface="Times New Roman" panose="02020603050405020304" pitchFamily="18" charset="0"/>
                <a:cs typeface="Times New Roman" panose="02020603050405020304" pitchFamily="18" charset="0"/>
              </a:rPr>
              <a:t>Build 2:</a:t>
            </a:r>
          </a:p>
          <a:p>
            <a:r>
              <a:rPr lang="en-US" sz="1800" dirty="0">
                <a:solidFill>
                  <a:schemeClr val="tx1"/>
                </a:solidFill>
                <a:latin typeface="Times New Roman" panose="02020603050405020304" pitchFamily="18" charset="0"/>
                <a:cs typeface="Times New Roman" panose="02020603050405020304" pitchFamily="18" charset="0"/>
              </a:rPr>
              <a:t>Submitted by: Team 09</a:t>
            </a:r>
          </a:p>
          <a:p>
            <a:pPr lvl="6" algn="l">
              <a:buFont typeface="Arial" panose="020B0604020202020204" pitchFamily="34" charset="0"/>
              <a:buChar char="•"/>
            </a:pPr>
            <a:r>
              <a:rPr lang="en-IN" sz="1800" i="0" dirty="0">
                <a:solidFill>
                  <a:schemeClr val="tx1"/>
                </a:solidFill>
                <a:effectLst/>
                <a:latin typeface="Times New Roman" panose="02020603050405020304" pitchFamily="18" charset="0"/>
                <a:cs typeface="Times New Roman" panose="02020603050405020304" pitchFamily="18" charset="0"/>
              </a:rPr>
              <a:t>Jayasurya </a:t>
            </a:r>
            <a:r>
              <a:rPr lang="en-IN" sz="1800" i="0" dirty="0" err="1">
                <a:solidFill>
                  <a:schemeClr val="tx1"/>
                </a:solidFill>
                <a:effectLst/>
                <a:latin typeface="Times New Roman" panose="02020603050405020304" pitchFamily="18" charset="0"/>
                <a:cs typeface="Times New Roman" panose="02020603050405020304" pitchFamily="18" charset="0"/>
              </a:rPr>
              <a:t>Pazhani</a:t>
            </a:r>
            <a:r>
              <a:rPr lang="en-IN" sz="1800" dirty="0">
                <a:solidFill>
                  <a:schemeClr val="tx1"/>
                </a:solidFill>
                <a:latin typeface="Times New Roman" panose="02020603050405020304" pitchFamily="18" charset="0"/>
                <a:cs typeface="Times New Roman" panose="02020603050405020304" pitchFamily="18" charset="0"/>
              </a:rPr>
              <a:t> [40289512]</a:t>
            </a:r>
            <a:endParaRPr lang="en-IN" sz="1800" i="0" dirty="0">
              <a:solidFill>
                <a:schemeClr val="tx1"/>
              </a:solidFill>
              <a:effectLst/>
              <a:latin typeface="Times New Roman" panose="02020603050405020304" pitchFamily="18" charset="0"/>
              <a:cs typeface="Times New Roman" panose="02020603050405020304" pitchFamily="18" charset="0"/>
            </a:endParaRPr>
          </a:p>
          <a:p>
            <a:pPr lvl="6" algn="l">
              <a:buFont typeface="Arial" panose="020B0604020202020204" pitchFamily="34" charset="0"/>
              <a:buChar char="•"/>
            </a:pPr>
            <a:r>
              <a:rPr lang="en-IN" sz="1800" i="0" dirty="0">
                <a:solidFill>
                  <a:schemeClr val="tx1"/>
                </a:solidFill>
                <a:effectLst/>
                <a:latin typeface="Times New Roman" panose="02020603050405020304" pitchFamily="18" charset="0"/>
                <a:cs typeface="Times New Roman" panose="02020603050405020304" pitchFamily="18" charset="0"/>
              </a:rPr>
              <a:t>Jayanth </a:t>
            </a:r>
            <a:r>
              <a:rPr lang="en-IN" sz="1800" i="0" dirty="0" err="1">
                <a:solidFill>
                  <a:schemeClr val="tx1"/>
                </a:solidFill>
                <a:effectLst/>
                <a:latin typeface="Times New Roman" panose="02020603050405020304" pitchFamily="18" charset="0"/>
                <a:cs typeface="Times New Roman" panose="02020603050405020304" pitchFamily="18" charset="0"/>
              </a:rPr>
              <a:t>Apagundi</a:t>
            </a:r>
            <a:r>
              <a:rPr lang="en-IN" sz="1800" dirty="0">
                <a:solidFill>
                  <a:schemeClr val="tx1"/>
                </a:solidFill>
                <a:latin typeface="Times New Roman" panose="02020603050405020304" pitchFamily="18" charset="0"/>
                <a:cs typeface="Times New Roman" panose="02020603050405020304" pitchFamily="18" charset="0"/>
              </a:rPr>
              <a:t> [40291184]</a:t>
            </a:r>
            <a:endParaRPr lang="en-IN" sz="1800" i="0" dirty="0">
              <a:solidFill>
                <a:schemeClr val="tx1"/>
              </a:solidFill>
              <a:effectLst/>
              <a:latin typeface="Times New Roman" panose="02020603050405020304" pitchFamily="18" charset="0"/>
              <a:cs typeface="Times New Roman" panose="02020603050405020304" pitchFamily="18" charset="0"/>
            </a:endParaRPr>
          </a:p>
          <a:p>
            <a:pPr lvl="6" algn="l">
              <a:buFont typeface="Arial" panose="020B0604020202020204" pitchFamily="34" charset="0"/>
              <a:buChar char="•"/>
            </a:pPr>
            <a:r>
              <a:rPr lang="en-IN" sz="1800" i="0" dirty="0" err="1">
                <a:solidFill>
                  <a:schemeClr val="tx1"/>
                </a:solidFill>
                <a:effectLst/>
                <a:latin typeface="Times New Roman" panose="02020603050405020304" pitchFamily="18" charset="0"/>
                <a:cs typeface="Times New Roman" panose="02020603050405020304" pitchFamily="18" charset="0"/>
              </a:rPr>
              <a:t>Shuvanidhi</a:t>
            </a:r>
            <a:r>
              <a:rPr lang="en-IN" sz="1800" i="0" dirty="0">
                <a:solidFill>
                  <a:schemeClr val="tx1"/>
                </a:solidFill>
                <a:effectLst/>
                <a:latin typeface="Times New Roman" panose="02020603050405020304" pitchFamily="18" charset="0"/>
                <a:cs typeface="Times New Roman" panose="02020603050405020304" pitchFamily="18" charset="0"/>
              </a:rPr>
              <a:t> Suresh [40293590]</a:t>
            </a:r>
          </a:p>
          <a:p>
            <a:pPr lvl="6" algn="l">
              <a:buFont typeface="Arial" panose="020B0604020202020204" pitchFamily="34" charset="0"/>
              <a:buChar char="•"/>
            </a:pPr>
            <a:r>
              <a:rPr lang="en-IN" sz="1800" i="0" dirty="0" err="1">
                <a:solidFill>
                  <a:schemeClr val="tx1"/>
                </a:solidFill>
                <a:effectLst/>
                <a:latin typeface="Times New Roman" panose="02020603050405020304" pitchFamily="18" charset="0"/>
                <a:cs typeface="Times New Roman" panose="02020603050405020304" pitchFamily="18" charset="0"/>
              </a:rPr>
              <a:t>Shahul</a:t>
            </a:r>
            <a:r>
              <a:rPr lang="en-IN" sz="1800" i="0" dirty="0">
                <a:solidFill>
                  <a:schemeClr val="tx1"/>
                </a:solidFill>
                <a:effectLst/>
                <a:latin typeface="Times New Roman" panose="02020603050405020304" pitchFamily="18" charset="0"/>
                <a:cs typeface="Times New Roman" panose="02020603050405020304" pitchFamily="18" charset="0"/>
              </a:rPr>
              <a:t> Hameed [40290787]</a:t>
            </a:r>
          </a:p>
          <a:p>
            <a:pPr lvl="6" algn="l">
              <a:buFont typeface="Arial" panose="020B0604020202020204" pitchFamily="34" charset="0"/>
              <a:buChar char="•"/>
            </a:pPr>
            <a:r>
              <a:rPr lang="en-IN" sz="1800" i="0" dirty="0">
                <a:solidFill>
                  <a:schemeClr val="tx1"/>
                </a:solidFill>
                <a:effectLst/>
                <a:latin typeface="Times New Roman" panose="02020603050405020304" pitchFamily="18" charset="0"/>
                <a:cs typeface="Times New Roman" panose="02020603050405020304" pitchFamily="18" charset="0"/>
              </a:rPr>
              <a:t>Vinisha Kora Venkatesalu [40293927]</a:t>
            </a:r>
          </a:p>
        </p:txBody>
      </p:sp>
      <p:pic>
        <p:nvPicPr>
          <p:cNvPr id="5" name="Picture 4">
            <a:extLst>
              <a:ext uri="{FF2B5EF4-FFF2-40B4-BE49-F238E27FC236}">
                <a16:creationId xmlns:a16="http://schemas.microsoft.com/office/drawing/2014/main" id="{D6875662-E8E3-39E7-797C-9D9F0293AC23}"/>
              </a:ext>
            </a:extLst>
          </p:cNvPr>
          <p:cNvPicPr>
            <a:picLocks noChangeAspect="1"/>
          </p:cNvPicPr>
          <p:nvPr/>
        </p:nvPicPr>
        <p:blipFill>
          <a:blip r:embed="rId2"/>
          <a:stretch>
            <a:fillRect/>
          </a:stretch>
        </p:blipFill>
        <p:spPr>
          <a:xfrm>
            <a:off x="0" y="5677199"/>
            <a:ext cx="4139543" cy="1188823"/>
          </a:xfrm>
          <a:prstGeom prst="rect">
            <a:avLst/>
          </a:prstGeom>
        </p:spPr>
      </p:pic>
      <p:sp>
        <p:nvSpPr>
          <p:cNvPr id="6" name="TextBox 5">
            <a:extLst>
              <a:ext uri="{FF2B5EF4-FFF2-40B4-BE49-F238E27FC236}">
                <a16:creationId xmlns:a16="http://schemas.microsoft.com/office/drawing/2014/main" id="{DCB46E03-F2E1-C7EE-2BD2-7A8FBCAF417A}"/>
              </a:ext>
            </a:extLst>
          </p:cNvPr>
          <p:cNvSpPr txBox="1"/>
          <p:nvPr/>
        </p:nvSpPr>
        <p:spPr>
          <a:xfrm>
            <a:off x="4349367" y="5677199"/>
            <a:ext cx="3493264" cy="923330"/>
          </a:xfrm>
          <a:prstGeom prst="rect">
            <a:avLst/>
          </a:prstGeom>
          <a:noFill/>
        </p:spPr>
        <p:txBody>
          <a:bodyPr wrap="none" rtlCol="0">
            <a:spAutoFit/>
          </a:bodyPr>
          <a:lstStyle/>
          <a:p>
            <a:r>
              <a:rPr lang="en-US" sz="1800" dirty="0">
                <a:solidFill>
                  <a:schemeClr val="tx1"/>
                </a:solidFill>
                <a:latin typeface="Times New Roman" panose="02020603050405020304" pitchFamily="18" charset="0"/>
                <a:cs typeface="Times New Roman" panose="02020603050405020304" pitchFamily="18" charset="0"/>
              </a:rPr>
              <a:t>Submitted to: </a:t>
            </a:r>
          </a:p>
          <a:p>
            <a:r>
              <a:rPr lang="en-US" dirty="0">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Professor Joey Paquet</a:t>
            </a:r>
          </a:p>
          <a:p>
            <a:endParaRPr lang="en-IN" dirty="0"/>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5859-10C9-4588-9727-B9362E26C29D}"/>
              </a:ext>
            </a:extLst>
          </p:cNvPr>
          <p:cNvSpPr>
            <a:spLocks noGrp="1"/>
          </p:cNvSpPr>
          <p:nvPr>
            <p:ph type="title"/>
          </p:nvPr>
        </p:nvSpPr>
        <p:spPr>
          <a:xfrm>
            <a:off x="676275" y="401320"/>
            <a:ext cx="2895600" cy="1325563"/>
          </a:xfrm>
        </p:spPr>
        <p:txBody>
          <a:bodyPr>
            <a:normAutofit/>
          </a:bodyPr>
          <a:lstStyle/>
          <a:p>
            <a:r>
              <a:rPr lang="en-US" sz="3600" dirty="0">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5671D7E5-EF66-4BCD-8DAA-E9061157F0BE}"/>
              </a:ext>
            </a:extLst>
          </p:cNvPr>
          <p:cNvSpPr>
            <a:spLocks noGrp="1"/>
          </p:cNvSpPr>
          <p:nvPr>
            <p:ph idx="1"/>
          </p:nvPr>
        </p:nvSpPr>
        <p:spPr>
          <a:xfrm>
            <a:off x="1295400" y="2362200"/>
            <a:ext cx="2895600" cy="2519363"/>
          </a:xfrm>
        </p:spPr>
        <p:txBody>
          <a:bodyPr>
            <a:noAutofit/>
          </a:bodyPr>
          <a:lstStyle/>
          <a:p>
            <a:r>
              <a:rPr lang="en-US" sz="1800" b="1" dirty="0">
                <a:latin typeface="Times New Roman" panose="02020603050405020304" pitchFamily="18" charset="0"/>
                <a:cs typeface="Times New Roman" panose="02020603050405020304" pitchFamily="18" charset="0"/>
              </a:rPr>
              <a:t>Architecture Diagram</a:t>
            </a:r>
          </a:p>
          <a:p>
            <a:r>
              <a:rPr lang="en-US" sz="1800" b="1" dirty="0">
                <a:latin typeface="Times New Roman" panose="02020603050405020304" pitchFamily="18" charset="0"/>
                <a:cs typeface="Times New Roman" panose="02020603050405020304" pitchFamily="18" charset="0"/>
              </a:rPr>
              <a:t>State Pattern</a:t>
            </a:r>
          </a:p>
          <a:p>
            <a:r>
              <a:rPr lang="en-US" sz="1800" b="1" dirty="0">
                <a:latin typeface="Times New Roman" panose="02020603050405020304" pitchFamily="18" charset="0"/>
                <a:cs typeface="Times New Roman" panose="02020603050405020304" pitchFamily="18" charset="0"/>
              </a:rPr>
              <a:t>Observer Pattern</a:t>
            </a:r>
          </a:p>
          <a:p>
            <a:r>
              <a:rPr lang="en-US" sz="1800" b="1" dirty="0">
                <a:latin typeface="Times New Roman" panose="02020603050405020304" pitchFamily="18" charset="0"/>
                <a:cs typeface="Times New Roman" panose="02020603050405020304" pitchFamily="18" charset="0"/>
              </a:rPr>
              <a:t>Command Pattern</a:t>
            </a:r>
          </a:p>
        </p:txBody>
      </p:sp>
      <p:sp>
        <p:nvSpPr>
          <p:cNvPr id="6" name="Slide Number Placeholder 5">
            <a:extLst>
              <a:ext uri="{FF2B5EF4-FFF2-40B4-BE49-F238E27FC236}">
                <a16:creationId xmlns:a16="http://schemas.microsoft.com/office/drawing/2014/main" id="{7C991F00-87A7-45A6-8029-B097FA72498D}"/>
              </a:ext>
            </a:extLst>
          </p:cNvPr>
          <p:cNvSpPr>
            <a:spLocks noGrp="1"/>
          </p:cNvSpPr>
          <p:nvPr>
            <p:ph type="sldNum" sz="quarter" idx="12"/>
          </p:nvPr>
        </p:nvSpPr>
        <p:spPr>
          <a:xfrm>
            <a:off x="5536305" y="6356350"/>
            <a:ext cx="987552" cy="365125"/>
          </a:xfrm>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1713219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14702" y="93746"/>
            <a:ext cx="8991600" cy="940552"/>
          </a:xfrm>
        </p:spPr>
        <p:txBody>
          <a:bodyPr>
            <a:noAutofit/>
          </a:bodyPr>
          <a:lstStyle/>
          <a:p>
            <a:r>
              <a:rPr lang="en-US" sz="3800" b="1" dirty="0">
                <a:latin typeface="Times New Roman" panose="02020603050405020304" pitchFamily="18" charset="0"/>
                <a:cs typeface="Times New Roman" panose="02020603050405020304" pitchFamily="18" charset="0"/>
              </a:rPr>
              <a:t>ARCHITECTURE   DIAGRAM</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p:txBody>
          <a:bodyPr/>
          <a:lstStyle/>
          <a:p>
            <a:fld id="{A49DFD55-3C28-40EF-9E31-A92D2E4017FF}" type="slidenum">
              <a:rPr lang="en-US" smtClean="0"/>
              <a:pPr/>
              <a:t>3</a:t>
            </a:fld>
            <a:endParaRPr lang="en-US" dirty="0"/>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4294967295"/>
          </p:nvPr>
        </p:nvSpPr>
        <p:spPr>
          <a:xfrm>
            <a:off x="1314702" y="1412039"/>
            <a:ext cx="9834562" cy="4411663"/>
          </a:xfrm>
        </p:spPr>
        <p:txBody>
          <a:bodyPr>
            <a:normAutofit/>
          </a:bodyPr>
          <a:lstStyle/>
          <a:p>
            <a:pPr algn="just">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009B680-FAE3-5A24-EF62-3C4E9B1DA5A3}"/>
              </a:ext>
            </a:extLst>
          </p:cNvPr>
          <p:cNvPicPr>
            <a:picLocks noChangeAspect="1"/>
          </p:cNvPicPr>
          <p:nvPr/>
        </p:nvPicPr>
        <p:blipFill rotWithShape="1">
          <a:blip r:embed="rId2"/>
          <a:srcRect t="4103" b="2625"/>
          <a:stretch/>
        </p:blipFill>
        <p:spPr>
          <a:xfrm>
            <a:off x="838200" y="1114425"/>
            <a:ext cx="10355120" cy="5343525"/>
          </a:xfrm>
          <a:prstGeom prst="rect">
            <a:avLst/>
          </a:prstGeom>
        </p:spPr>
      </p:pic>
    </p:spTree>
    <p:extLst>
      <p:ext uri="{BB962C8B-B14F-4D97-AF65-F5344CB8AC3E}">
        <p14:creationId xmlns:p14="http://schemas.microsoft.com/office/powerpoint/2010/main" val="3571516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3739816" y="409115"/>
            <a:ext cx="4712368" cy="940552"/>
          </a:xfrm>
        </p:spPr>
        <p:txBody>
          <a:bodyPr>
            <a:noAutofit/>
          </a:bodyPr>
          <a:lstStyle/>
          <a:p>
            <a:r>
              <a:rPr lang="en-US" sz="3800" b="1" dirty="0">
                <a:latin typeface="Times New Roman" panose="02020603050405020304" pitchFamily="18" charset="0"/>
                <a:cs typeface="Times New Roman" panose="02020603050405020304" pitchFamily="18" charset="0"/>
              </a:rPr>
              <a:t>STATE Pattern</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p:txBody>
          <a:bodyPr/>
          <a:lstStyle/>
          <a:p>
            <a:fld id="{A49DFD55-3C28-40EF-9E31-A92D2E4017FF}" type="slidenum">
              <a:rPr lang="en-US" smtClean="0"/>
              <a:pPr/>
              <a:t>4</a:t>
            </a:fld>
            <a:endParaRPr lang="en-US" dirty="0"/>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4294967295"/>
          </p:nvPr>
        </p:nvSpPr>
        <p:spPr>
          <a:xfrm>
            <a:off x="1314702" y="1412039"/>
            <a:ext cx="9834562" cy="4411663"/>
          </a:xfrm>
        </p:spPr>
        <p:txBody>
          <a:bodyPr>
            <a:normAutofit fontScale="77500" lnSpcReduction="20000"/>
          </a:bodyPr>
          <a:lstStyle/>
          <a:p>
            <a:pPr algn="just">
              <a:lnSpc>
                <a:spcPct val="150000"/>
              </a:lnSpc>
            </a:pPr>
            <a:r>
              <a:rPr lang="en-US" sz="2000" dirty="0">
                <a:latin typeface="Times New Roman" panose="02020603050405020304" pitchFamily="18" charset="0"/>
                <a:cs typeface="Times New Roman" panose="02020603050405020304" pitchFamily="18" charset="0"/>
              </a:rPr>
              <a:t>The State Pattern is a behavioral design pattern that allows an object to alter its behavior when its internal state changes. This pattern is useful when an object's behavior depends on its state, and it needs to switch between different behaviors at runtime. </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In the provided code: </a:t>
            </a:r>
          </a:p>
          <a:p>
            <a:pPr algn="just">
              <a:lnSpc>
                <a:spcPct val="150000"/>
              </a:lnSpc>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GameState</a:t>
            </a:r>
            <a:r>
              <a:rPr lang="en-US" sz="2000" dirty="0">
                <a:latin typeface="Times New Roman" panose="02020603050405020304" pitchFamily="18" charset="0"/>
                <a:cs typeface="Times New Roman" panose="02020603050405020304" pitchFamily="18" charset="0"/>
              </a:rPr>
              <a:t> class represents the state of the game. It contains various attributes such as players, map, and log.</a:t>
            </a:r>
          </a:p>
          <a:p>
            <a:pPr algn="just">
              <a:lnSpc>
                <a:spcPct val="150000"/>
              </a:lnSpc>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MapView</a:t>
            </a:r>
            <a:r>
              <a:rPr lang="en-US" sz="2000" dirty="0">
                <a:latin typeface="Times New Roman" panose="02020603050405020304" pitchFamily="18" charset="0"/>
                <a:cs typeface="Times New Roman" panose="02020603050405020304" pitchFamily="18" charset="0"/>
              </a:rPr>
              <a:t> class interacts with the </a:t>
            </a:r>
            <a:r>
              <a:rPr lang="en-US" sz="2000" dirty="0" err="1">
                <a:latin typeface="Times New Roman" panose="02020603050405020304" pitchFamily="18" charset="0"/>
                <a:cs typeface="Times New Roman" panose="02020603050405020304" pitchFamily="18" charset="0"/>
              </a:rPr>
              <a:t>GameState</a:t>
            </a:r>
            <a:r>
              <a:rPr lang="en-US" sz="2000" dirty="0">
                <a:latin typeface="Times New Roman" panose="02020603050405020304" pitchFamily="18" charset="0"/>
                <a:cs typeface="Times New Roman" panose="02020603050405020304" pitchFamily="18" charset="0"/>
              </a:rPr>
              <a:t> to display the current state of the game map.</a:t>
            </a:r>
          </a:p>
          <a:p>
            <a:pPr algn="just">
              <a:lnSpc>
                <a:spcPct val="150000"/>
              </a:lnSpc>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GameState</a:t>
            </a:r>
            <a:r>
              <a:rPr lang="en-US" sz="2000" dirty="0">
                <a:latin typeface="Times New Roman" panose="02020603050405020304" pitchFamily="18" charset="0"/>
                <a:cs typeface="Times New Roman" panose="02020603050405020304" pitchFamily="18" charset="0"/>
              </a:rPr>
              <a:t> class can transition between different states based on actions performed during the game, such as loading a map, editing a map, or saving a map.</a:t>
            </a:r>
          </a:p>
          <a:p>
            <a:pPr algn="just">
              <a:lnSpc>
                <a:spcPct val="150000"/>
              </a:lnSpc>
            </a:pPr>
            <a:r>
              <a:rPr lang="en-US" sz="2000" dirty="0">
                <a:latin typeface="Times New Roman" panose="02020603050405020304" pitchFamily="18" charset="0"/>
                <a:cs typeface="Times New Roman" panose="02020603050405020304" pitchFamily="18" charset="0"/>
              </a:rPr>
              <a:t>By encapsulating each state (e.g., loading, editing, saving) in separate classes and allowing the </a:t>
            </a:r>
            <a:r>
              <a:rPr lang="en-US" sz="2000" dirty="0" err="1">
                <a:latin typeface="Times New Roman" panose="02020603050405020304" pitchFamily="18" charset="0"/>
                <a:cs typeface="Times New Roman" panose="02020603050405020304" pitchFamily="18" charset="0"/>
              </a:rPr>
              <a:t>GameState</a:t>
            </a:r>
            <a:r>
              <a:rPr lang="en-US" sz="2000" dirty="0">
                <a:latin typeface="Times New Roman" panose="02020603050405020304" pitchFamily="18" charset="0"/>
                <a:cs typeface="Times New Roman" panose="02020603050405020304" pitchFamily="18" charset="0"/>
              </a:rPr>
              <a:t> to delegate behavior to these classes, the State Pattern enables the </a:t>
            </a:r>
            <a:r>
              <a:rPr lang="en-US" sz="2000" dirty="0" err="1">
                <a:latin typeface="Times New Roman" panose="02020603050405020304" pitchFamily="18" charset="0"/>
                <a:cs typeface="Times New Roman" panose="02020603050405020304" pitchFamily="18" charset="0"/>
              </a:rPr>
              <a:t>GameState</a:t>
            </a:r>
            <a:r>
              <a:rPr lang="en-US" sz="2000" dirty="0">
                <a:latin typeface="Times New Roman" panose="02020603050405020304" pitchFamily="18" charset="0"/>
                <a:cs typeface="Times New Roman" panose="02020603050405020304" pitchFamily="18" charset="0"/>
              </a:rPr>
              <a:t> to change its behavior dynamically.</a:t>
            </a:r>
          </a:p>
        </p:txBody>
      </p:sp>
    </p:spTree>
    <p:extLst>
      <p:ext uri="{BB962C8B-B14F-4D97-AF65-F5344CB8AC3E}">
        <p14:creationId xmlns:p14="http://schemas.microsoft.com/office/powerpoint/2010/main" val="2871801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739942" y="449220"/>
            <a:ext cx="4712368" cy="940552"/>
          </a:xfrm>
        </p:spPr>
        <p:txBody>
          <a:bodyPr>
            <a:noAutofit/>
          </a:bodyPr>
          <a:lstStyle/>
          <a:p>
            <a:r>
              <a:rPr lang="en-US" sz="2400" b="1" cap="none" dirty="0">
                <a:latin typeface="Times New Roman" panose="02020603050405020304" pitchFamily="18" charset="0"/>
                <a:cs typeface="Times New Roman" panose="02020603050405020304" pitchFamily="18" charset="0"/>
              </a:rPr>
              <a:t>State Pattern</a:t>
            </a:r>
            <a:r>
              <a:rPr lang="en-US" sz="3800" b="1" cap="none" dirty="0">
                <a:latin typeface="Times New Roman" panose="02020603050405020304" pitchFamily="18" charset="0"/>
                <a:cs typeface="Times New Roman" panose="02020603050405020304" pitchFamily="18" charset="0"/>
              </a:rPr>
              <a:t>:</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p:txBody>
          <a:bodyPr/>
          <a:lstStyle/>
          <a:p>
            <a:fld id="{A49DFD55-3C28-40EF-9E31-A92D2E4017FF}" type="slidenum">
              <a:rPr lang="en-US" smtClean="0"/>
              <a:pPr/>
              <a:t>5</a:t>
            </a:fld>
            <a:endParaRPr lang="en-US" dirty="0"/>
          </a:p>
        </p:txBody>
      </p:sp>
      <p:pic>
        <p:nvPicPr>
          <p:cNvPr id="5" name="Picture 4" descr="A diagram of a diagram&#10;&#10;Description automatically generated">
            <a:extLst>
              <a:ext uri="{FF2B5EF4-FFF2-40B4-BE49-F238E27FC236}">
                <a16:creationId xmlns:a16="http://schemas.microsoft.com/office/drawing/2014/main" id="{07219052-FACB-05DB-0D84-7875EC69CA7D}"/>
              </a:ext>
            </a:extLst>
          </p:cNvPr>
          <p:cNvPicPr>
            <a:picLocks noChangeAspect="1"/>
          </p:cNvPicPr>
          <p:nvPr/>
        </p:nvPicPr>
        <p:blipFill rotWithShape="1">
          <a:blip r:embed="rId2"/>
          <a:srcRect l="5605" r="3808" b="7315"/>
          <a:stretch/>
        </p:blipFill>
        <p:spPr>
          <a:xfrm>
            <a:off x="2392875" y="1459664"/>
            <a:ext cx="7406249" cy="4565650"/>
          </a:xfrm>
          <a:prstGeom prst="rect">
            <a:avLst/>
          </a:prstGeom>
        </p:spPr>
      </p:pic>
    </p:spTree>
    <p:extLst>
      <p:ext uri="{BB962C8B-B14F-4D97-AF65-F5344CB8AC3E}">
        <p14:creationId xmlns:p14="http://schemas.microsoft.com/office/powerpoint/2010/main" val="2318541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2767263" y="409115"/>
            <a:ext cx="5684921" cy="940552"/>
          </a:xfrm>
        </p:spPr>
        <p:txBody>
          <a:bodyPr>
            <a:noAutofit/>
          </a:bodyPr>
          <a:lstStyle/>
          <a:p>
            <a:r>
              <a:rPr lang="en-US" sz="3800" b="1" dirty="0">
                <a:latin typeface="Times New Roman" panose="02020603050405020304" pitchFamily="18" charset="0"/>
                <a:cs typeface="Times New Roman" panose="02020603050405020304" pitchFamily="18" charset="0"/>
              </a:rPr>
              <a:t>Observer Pattern</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p:txBody>
          <a:bodyPr/>
          <a:lstStyle/>
          <a:p>
            <a:fld id="{A49DFD55-3C28-40EF-9E31-A92D2E4017FF}" type="slidenum">
              <a:rPr lang="en-US" smtClean="0"/>
              <a:pPr/>
              <a:t>6</a:t>
            </a:fld>
            <a:endParaRPr lang="en-US" dirty="0"/>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4294967295"/>
          </p:nvPr>
        </p:nvSpPr>
        <p:spPr>
          <a:xfrm>
            <a:off x="1314702" y="1412039"/>
            <a:ext cx="9834562" cy="4411663"/>
          </a:xfrm>
        </p:spPr>
        <p:txBody>
          <a:bodyPr>
            <a:normAutofit fontScale="85000" lnSpcReduction="10000"/>
          </a:bodyPr>
          <a:lstStyle/>
          <a:p>
            <a:pPr algn="just">
              <a:lnSpc>
                <a:spcPct val="150000"/>
              </a:lnSpc>
            </a:pPr>
            <a:r>
              <a:rPr lang="en-US" sz="2000" dirty="0">
                <a:latin typeface="Times New Roman" panose="02020603050405020304" pitchFamily="18" charset="0"/>
                <a:cs typeface="Times New Roman" panose="02020603050405020304" pitchFamily="18" charset="0"/>
              </a:rPr>
              <a:t>The Observer Pattern is a behavioral design pattern where an object, known as the subject, maintains a list of dependents, called observers, and notifies them of any state changes, usually by calling one of their methods. </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In the provided code:</a:t>
            </a:r>
          </a:p>
          <a:p>
            <a:pPr algn="just">
              <a:lnSpc>
                <a:spcPct val="150000"/>
              </a:lnSpc>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GameState</a:t>
            </a:r>
            <a:r>
              <a:rPr lang="en-US" sz="2000" dirty="0">
                <a:latin typeface="Times New Roman" panose="02020603050405020304" pitchFamily="18" charset="0"/>
                <a:cs typeface="Times New Roman" panose="02020603050405020304" pitchFamily="18" charset="0"/>
              </a:rPr>
              <a:t> class maintains a list of observers (e.g., </a:t>
            </a:r>
            <a:r>
              <a:rPr lang="en-US" sz="2000" dirty="0" err="1">
                <a:latin typeface="Times New Roman" panose="02020603050405020304" pitchFamily="18" charset="0"/>
                <a:cs typeface="Times New Roman" panose="02020603050405020304" pitchFamily="18" charset="0"/>
              </a:rPr>
              <a:t>MapView</a:t>
            </a:r>
            <a:r>
              <a:rPr lang="en-US" sz="2000" dirty="0">
                <a:latin typeface="Times New Roman" panose="02020603050405020304" pitchFamily="18" charset="0"/>
                <a:cs typeface="Times New Roman" panose="02020603050405020304" pitchFamily="18" charset="0"/>
              </a:rPr>
              <a:t>) that are interested in changes to the game state. When the game state changes (e.g., loading a map, updating the log), the </a:t>
            </a:r>
            <a:r>
              <a:rPr lang="en-US" sz="2000" dirty="0" err="1">
                <a:latin typeface="Times New Roman" panose="02020603050405020304" pitchFamily="18" charset="0"/>
                <a:cs typeface="Times New Roman" panose="02020603050405020304" pitchFamily="18" charset="0"/>
              </a:rPr>
              <a:t>GameState</a:t>
            </a:r>
            <a:r>
              <a:rPr lang="en-US" sz="2000" dirty="0">
                <a:latin typeface="Times New Roman" panose="02020603050405020304" pitchFamily="18" charset="0"/>
                <a:cs typeface="Times New Roman" panose="02020603050405020304" pitchFamily="18" charset="0"/>
              </a:rPr>
              <a:t> notifies its observers by calling their update methods.</a:t>
            </a:r>
          </a:p>
          <a:p>
            <a:pPr algn="just">
              <a:lnSpc>
                <a:spcPct val="150000"/>
              </a:lnSpc>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MapView</a:t>
            </a:r>
            <a:r>
              <a:rPr lang="en-US" sz="2000" dirty="0">
                <a:latin typeface="Times New Roman" panose="02020603050405020304" pitchFamily="18" charset="0"/>
                <a:cs typeface="Times New Roman" panose="02020603050405020304" pitchFamily="18" charset="0"/>
              </a:rPr>
              <a:t> class implements an update method to react to changes in the game state. For example, when the game map is updated, the </a:t>
            </a:r>
            <a:r>
              <a:rPr lang="en-US" sz="2000" dirty="0" err="1">
                <a:latin typeface="Times New Roman" panose="02020603050405020304" pitchFamily="18" charset="0"/>
                <a:cs typeface="Times New Roman" panose="02020603050405020304" pitchFamily="18" charset="0"/>
              </a:rPr>
              <a:t>MapView</a:t>
            </a:r>
            <a:r>
              <a:rPr lang="en-US" sz="2000" dirty="0">
                <a:latin typeface="Times New Roman" panose="02020603050405020304" pitchFamily="18" charset="0"/>
                <a:cs typeface="Times New Roman" panose="02020603050405020304" pitchFamily="18" charset="0"/>
              </a:rPr>
              <a:t> can re-render the map to reflect the changes.</a:t>
            </a:r>
          </a:p>
          <a:p>
            <a:pPr algn="just">
              <a:lnSpc>
                <a:spcPct val="150000"/>
              </a:lnSpc>
            </a:pPr>
            <a:r>
              <a:rPr lang="en-US" sz="2000" dirty="0">
                <a:latin typeface="Times New Roman" panose="02020603050405020304" pitchFamily="18" charset="0"/>
                <a:cs typeface="Times New Roman" panose="02020603050405020304" pitchFamily="18" charset="0"/>
              </a:rPr>
              <a:t>This pattern enables loose coupling between the </a:t>
            </a:r>
            <a:r>
              <a:rPr lang="en-US" sz="2000" dirty="0" err="1">
                <a:latin typeface="Times New Roman" panose="02020603050405020304" pitchFamily="18" charset="0"/>
                <a:cs typeface="Times New Roman" panose="02020603050405020304" pitchFamily="18" charset="0"/>
              </a:rPr>
              <a:t>GameState</a:t>
            </a:r>
            <a:r>
              <a:rPr lang="en-US" sz="2000" dirty="0">
                <a:latin typeface="Times New Roman" panose="02020603050405020304" pitchFamily="18" charset="0"/>
                <a:cs typeface="Times New Roman" panose="02020603050405020304" pitchFamily="18" charset="0"/>
              </a:rPr>
              <a:t> and its observers, allowing for flexible and scalable designs where multiple observers can react to state changes independently.</a:t>
            </a:r>
          </a:p>
        </p:txBody>
      </p:sp>
    </p:spTree>
    <p:extLst>
      <p:ext uri="{BB962C8B-B14F-4D97-AF65-F5344CB8AC3E}">
        <p14:creationId xmlns:p14="http://schemas.microsoft.com/office/powerpoint/2010/main" val="2096845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406567" y="320298"/>
            <a:ext cx="4712368" cy="940552"/>
          </a:xfrm>
        </p:spPr>
        <p:txBody>
          <a:bodyPr>
            <a:noAutofit/>
          </a:bodyPr>
          <a:lstStyle/>
          <a:p>
            <a:r>
              <a:rPr lang="en-US" sz="2400" b="1" cap="none" dirty="0">
                <a:latin typeface="Times New Roman" panose="02020603050405020304" pitchFamily="18" charset="0"/>
                <a:cs typeface="Times New Roman" panose="02020603050405020304" pitchFamily="18" charset="0"/>
              </a:rPr>
              <a:t>Observer Pattern</a:t>
            </a:r>
            <a:r>
              <a:rPr lang="en-US" sz="3800" b="1" cap="none" dirty="0">
                <a:latin typeface="Times New Roman" panose="02020603050405020304" pitchFamily="18" charset="0"/>
                <a:cs typeface="Times New Roman" panose="02020603050405020304" pitchFamily="18" charset="0"/>
              </a:rPr>
              <a:t>:</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p:txBody>
          <a:bodyPr/>
          <a:lstStyle/>
          <a:p>
            <a:fld id="{A49DFD55-3C28-40EF-9E31-A92D2E4017FF}" type="slidenum">
              <a:rPr lang="en-US" smtClean="0"/>
              <a:pPr/>
              <a:t>7</a:t>
            </a:fld>
            <a:endParaRPr lang="en-US" dirty="0"/>
          </a:p>
        </p:txBody>
      </p:sp>
      <p:pic>
        <p:nvPicPr>
          <p:cNvPr id="4" name="Picture 3" descr="A diagram of a computer&#10;&#10;Description automatically generated with medium confidence">
            <a:extLst>
              <a:ext uri="{FF2B5EF4-FFF2-40B4-BE49-F238E27FC236}">
                <a16:creationId xmlns:a16="http://schemas.microsoft.com/office/drawing/2014/main" id="{DB83C73F-A95C-4523-FCB2-18A653AC9E34}"/>
              </a:ext>
            </a:extLst>
          </p:cNvPr>
          <p:cNvPicPr>
            <a:picLocks noChangeAspect="1"/>
          </p:cNvPicPr>
          <p:nvPr/>
        </p:nvPicPr>
        <p:blipFill rotWithShape="1">
          <a:blip r:embed="rId2"/>
          <a:srcRect l="4890" t="3043" r="5859" b="2898"/>
          <a:stretch/>
        </p:blipFill>
        <p:spPr>
          <a:xfrm>
            <a:off x="2028825" y="1260850"/>
            <a:ext cx="7953375" cy="5095500"/>
          </a:xfrm>
          <a:prstGeom prst="rect">
            <a:avLst/>
          </a:prstGeom>
        </p:spPr>
      </p:pic>
    </p:spTree>
    <p:extLst>
      <p:ext uri="{BB962C8B-B14F-4D97-AF65-F5344CB8AC3E}">
        <p14:creationId xmlns:p14="http://schemas.microsoft.com/office/powerpoint/2010/main" val="1301218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2767263" y="409115"/>
            <a:ext cx="5684921" cy="940552"/>
          </a:xfrm>
        </p:spPr>
        <p:txBody>
          <a:bodyPr>
            <a:noAutofit/>
          </a:bodyPr>
          <a:lstStyle/>
          <a:p>
            <a:r>
              <a:rPr lang="en-US" sz="3800" b="1" dirty="0">
                <a:latin typeface="Times New Roman" panose="02020603050405020304" pitchFamily="18" charset="0"/>
                <a:cs typeface="Times New Roman" panose="02020603050405020304" pitchFamily="18" charset="0"/>
              </a:rPr>
              <a:t>Command Pattern</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p:txBody>
          <a:bodyPr/>
          <a:lstStyle/>
          <a:p>
            <a:fld id="{A49DFD55-3C28-40EF-9E31-A92D2E4017FF}" type="slidenum">
              <a:rPr lang="en-US" smtClean="0"/>
              <a:pPr/>
              <a:t>8</a:t>
            </a:fld>
            <a:endParaRPr lang="en-US" dirty="0"/>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4294967295"/>
          </p:nvPr>
        </p:nvSpPr>
        <p:spPr>
          <a:xfrm>
            <a:off x="1314702" y="1412039"/>
            <a:ext cx="9834562" cy="4411663"/>
          </a:xfrm>
        </p:spPr>
        <p:txBody>
          <a:bodyPr>
            <a:normAutofit lnSpcReduction="10000"/>
          </a:bodyPr>
          <a:lstStyle/>
          <a:p>
            <a:pPr algn="just">
              <a:lnSpc>
                <a:spcPct val="150000"/>
              </a:lnSpc>
            </a:pPr>
            <a:r>
              <a:rPr lang="en-US" sz="2000" dirty="0">
                <a:latin typeface="Times New Roman" panose="02020603050405020304" pitchFamily="18" charset="0"/>
                <a:cs typeface="Times New Roman" panose="02020603050405020304" pitchFamily="18" charset="0"/>
              </a:rPr>
              <a:t>The Command Pattern is a behavioral design pattern that encapsulates a request as an object, thereby allowing parameterization of clients with queues, requests, and operations. </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In the provided code:</a:t>
            </a:r>
          </a:p>
          <a:p>
            <a:pPr algn="just">
              <a:lnSpc>
                <a:spcPct val="150000"/>
              </a:lnSpc>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MapView</a:t>
            </a:r>
            <a:r>
              <a:rPr lang="en-US" sz="2000" dirty="0">
                <a:latin typeface="Times New Roman" panose="02020603050405020304" pitchFamily="18" charset="0"/>
                <a:cs typeface="Times New Roman" panose="02020603050405020304" pitchFamily="18" charset="0"/>
              </a:rPr>
              <a:t> class contains methods like </a:t>
            </a:r>
            <a:r>
              <a:rPr lang="en-US" sz="2000" b="1" dirty="0" err="1">
                <a:latin typeface="Times New Roman" panose="02020603050405020304" pitchFamily="18" charset="0"/>
                <a:cs typeface="Times New Roman" panose="02020603050405020304" pitchFamily="18" charset="0"/>
              </a:rPr>
              <a:t>renderPlayers</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and </a:t>
            </a:r>
            <a:r>
              <a:rPr lang="en-US" sz="2000" b="1" dirty="0" err="1">
                <a:latin typeface="Times New Roman" panose="02020603050405020304" pitchFamily="18" charset="0"/>
                <a:cs typeface="Times New Roman" panose="02020603050405020304" pitchFamily="18" charset="0"/>
              </a:rPr>
              <a:t>showMap</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that represent commands to render player information and display the game map, respectively.</a:t>
            </a:r>
          </a:p>
          <a:p>
            <a:pPr algn="just">
              <a:lnSpc>
                <a:spcPct val="150000"/>
              </a:lnSpc>
            </a:pPr>
            <a:r>
              <a:rPr lang="en-US" sz="2000" dirty="0">
                <a:latin typeface="Times New Roman" panose="02020603050405020304" pitchFamily="18" charset="0"/>
                <a:cs typeface="Times New Roman" panose="02020603050405020304" pitchFamily="18" charset="0"/>
              </a:rPr>
              <a:t>These methods encapsulate specific actions that can be executed by invoking them. The </a:t>
            </a:r>
            <a:r>
              <a:rPr lang="en-US" sz="2000" dirty="0" err="1">
                <a:latin typeface="Times New Roman" panose="02020603050405020304" pitchFamily="18" charset="0"/>
                <a:cs typeface="Times New Roman" panose="02020603050405020304" pitchFamily="18" charset="0"/>
              </a:rPr>
              <a:t>MapView</a:t>
            </a:r>
            <a:r>
              <a:rPr lang="en-US" sz="2000" dirty="0">
                <a:latin typeface="Times New Roman" panose="02020603050405020304" pitchFamily="18" charset="0"/>
                <a:cs typeface="Times New Roman" panose="02020603050405020304" pitchFamily="18" charset="0"/>
              </a:rPr>
              <a:t> class acts as an invoker, and the methods act as commands that can be executed.</a:t>
            </a:r>
          </a:p>
          <a:p>
            <a:pPr algn="just">
              <a:lnSpc>
                <a:spcPct val="150000"/>
              </a:lnSpc>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MapView</a:t>
            </a:r>
            <a:r>
              <a:rPr lang="en-US" sz="2000" dirty="0">
                <a:latin typeface="Times New Roman" panose="02020603050405020304" pitchFamily="18" charset="0"/>
                <a:cs typeface="Times New Roman" panose="02020603050405020304" pitchFamily="18" charset="0"/>
              </a:rPr>
              <a:t> class can queue or store these commands and execute them later, providing flexibility and decoupling between the invoker and the receiver of the commands.</a:t>
            </a:r>
          </a:p>
        </p:txBody>
      </p:sp>
    </p:spTree>
    <p:extLst>
      <p:ext uri="{BB962C8B-B14F-4D97-AF65-F5344CB8AC3E}">
        <p14:creationId xmlns:p14="http://schemas.microsoft.com/office/powerpoint/2010/main" val="1676061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739942" y="449220"/>
            <a:ext cx="4712368" cy="940552"/>
          </a:xfrm>
        </p:spPr>
        <p:txBody>
          <a:bodyPr>
            <a:noAutofit/>
          </a:bodyPr>
          <a:lstStyle/>
          <a:p>
            <a:r>
              <a:rPr lang="en-US" sz="2400" b="1" cap="none" dirty="0">
                <a:latin typeface="Times New Roman" panose="02020603050405020304" pitchFamily="18" charset="0"/>
                <a:cs typeface="Times New Roman" panose="02020603050405020304" pitchFamily="18" charset="0"/>
              </a:rPr>
              <a:t>Command Pattern</a:t>
            </a:r>
            <a:r>
              <a:rPr lang="en-US" sz="3800" b="1" cap="none" dirty="0">
                <a:latin typeface="Times New Roman" panose="02020603050405020304" pitchFamily="18" charset="0"/>
                <a:cs typeface="Times New Roman" panose="02020603050405020304" pitchFamily="18" charset="0"/>
              </a:rPr>
              <a:t>:</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p:txBody>
          <a:bodyPr/>
          <a:lstStyle/>
          <a:p>
            <a:fld id="{A49DFD55-3C28-40EF-9E31-A92D2E4017FF}" type="slidenum">
              <a:rPr lang="en-US" smtClean="0"/>
              <a:pPr/>
              <a:t>9</a:t>
            </a:fld>
            <a:endParaRPr lang="en-US" dirty="0"/>
          </a:p>
        </p:txBody>
      </p:sp>
      <p:pic>
        <p:nvPicPr>
          <p:cNvPr id="4" name="Picture 3" descr="A diagram of a diagram&#10;&#10;Description automatically generated">
            <a:extLst>
              <a:ext uri="{FF2B5EF4-FFF2-40B4-BE49-F238E27FC236}">
                <a16:creationId xmlns:a16="http://schemas.microsoft.com/office/drawing/2014/main" id="{14B56091-F6AC-CE80-03A6-B288E949D778}"/>
              </a:ext>
            </a:extLst>
          </p:cNvPr>
          <p:cNvPicPr>
            <a:picLocks noChangeAspect="1"/>
          </p:cNvPicPr>
          <p:nvPr/>
        </p:nvPicPr>
        <p:blipFill rotWithShape="1">
          <a:blip r:embed="rId2"/>
          <a:srcRect l="4408" t="5845" r="7895" b="11824"/>
          <a:stretch/>
        </p:blipFill>
        <p:spPr>
          <a:xfrm>
            <a:off x="922421" y="1483895"/>
            <a:ext cx="10692064" cy="3866147"/>
          </a:xfrm>
          <a:prstGeom prst="rect">
            <a:avLst/>
          </a:prstGeom>
        </p:spPr>
      </p:pic>
    </p:spTree>
    <p:extLst>
      <p:ext uri="{BB962C8B-B14F-4D97-AF65-F5344CB8AC3E}">
        <p14:creationId xmlns:p14="http://schemas.microsoft.com/office/powerpoint/2010/main" val="3623819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5F11-B7B9-4B80-8C6A-A8A7A7190B77}"/>
              </a:ext>
            </a:extLst>
          </p:cNvPr>
          <p:cNvSpPr>
            <a:spLocks noGrp="1"/>
          </p:cNvSpPr>
          <p:nvPr>
            <p:ph type="ctrTitle"/>
          </p:nvPr>
        </p:nvSpPr>
        <p:spPr>
          <a:xfrm>
            <a:off x="6529137" y="2807369"/>
            <a:ext cx="5283467" cy="880539"/>
          </a:xfrm>
        </p:spPr>
        <p:txBody>
          <a:bodyPr/>
          <a:lstStyle/>
          <a:p>
            <a:r>
              <a:rPr lang="en-US" sz="4000" b="1" dirty="0">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379728094"/>
      </p:ext>
    </p:extLst>
  </p:cSld>
  <p:clrMapOvr>
    <a:masterClrMapping/>
  </p:clrMapOvr>
</p:sld>
</file>

<file path=ppt/theme/theme1.xml><?xml version="1.0" encoding="utf-8"?>
<a:theme xmlns:a="http://schemas.openxmlformats.org/drawingml/2006/main" name="Office Theme">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presentation" id="{11346FDE-2DA4-453A-ACF7-41117CE5C235}" vid="{A628C74B-DC45-4C37-9A15-B37206CA45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0E6EE1E-660B-46C6-AC21-8E505FB957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CC7F809-A434-4A8D-A127-1C50C2DB389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D5826B4-4DD2-4A9B-8D6D-E91CF9C2316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presentation</Template>
  <TotalTime>164</TotalTime>
  <Words>537</Words>
  <Application>Microsoft Office PowerPoint</Application>
  <PresentationFormat>Widescreen</PresentationFormat>
  <Paragraphs>47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Tenorite</vt:lpstr>
      <vt:lpstr>Times New Roman</vt:lpstr>
      <vt:lpstr>Office Theme</vt:lpstr>
      <vt:lpstr>SoEN 6441 Advanced Programming Practices Project   -Winter 2024</vt:lpstr>
      <vt:lpstr>AGENDA</vt:lpstr>
      <vt:lpstr>ARCHITECTURE   DIAGRAM</vt:lpstr>
      <vt:lpstr>STATE Pattern</vt:lpstr>
      <vt:lpstr>State Pattern:</vt:lpstr>
      <vt:lpstr>Observer Pattern</vt:lpstr>
      <vt:lpstr>Observer Pattern:</vt:lpstr>
      <vt:lpstr>Command Pattern</vt:lpstr>
      <vt:lpstr>Command Pattern: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SoEN 6441 Advanced Programming practices Project – Winter 2024</dc:title>
  <dc:creator>Vinisha Kora Venkatesalu</dc:creator>
  <cp:lastModifiedBy>Vinisha K V</cp:lastModifiedBy>
  <cp:revision>8</cp:revision>
  <dcterms:created xsi:type="dcterms:W3CDTF">2024-02-18T20:12:29Z</dcterms:created>
  <dcterms:modified xsi:type="dcterms:W3CDTF">2024-03-17T16:29:52Z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