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8" r:id="rId7"/>
    <p:sldId id="278" r:id="rId8"/>
    <p:sldId id="273" r:id="rId9"/>
    <p:sldId id="279" r:id="rId10"/>
    <p:sldId id="274" r:id="rId11"/>
    <p:sldId id="275" r:id="rId12"/>
    <p:sldId id="277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0704" autoAdjust="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2/18/2024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2/18/2024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924175"/>
            <a:ext cx="2895600" cy="25193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1EBF9-6826-475B-8079-C11128991B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726A3-DF54-47D2-8C3A-34FD43A19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3479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D125A-4493-4967-9146-841D0EF3B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7A1CF8B-3479-49A3-A30E-2F2ECE962075}"/>
              </a:ext>
            </a:extLst>
          </p:cNvPr>
          <p:cNvGrpSpPr/>
          <p:nvPr userDrawn="1"/>
        </p:nvGrpSpPr>
        <p:grpSpPr>
          <a:xfrm>
            <a:off x="6953250" y="-25401"/>
            <a:ext cx="5238750" cy="6902451"/>
            <a:chOff x="6953250" y="-25401"/>
            <a:chExt cx="5238750" cy="690245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9FBD260-5143-4B12-B9F8-33E48D548909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87F08D6-2CA7-4A5A-BE34-07113DCA535D}"/>
                </a:ext>
              </a:extLst>
            </p:cNvPr>
            <p:cNvCxnSpPr/>
            <p:nvPr userDrawn="1"/>
          </p:nvCxnSpPr>
          <p:spPr>
            <a:xfrm flipH="1">
              <a:off x="6953250" y="-25401"/>
              <a:ext cx="3790950" cy="69024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148840"/>
            <a:ext cx="4179570" cy="171553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1350" y="3962003"/>
            <a:ext cx="4179570" cy="365125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512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111608"/>
            <a:ext cx="10515600" cy="3744912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277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7449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7724" y="2809875"/>
            <a:ext cx="6696075" cy="1909763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04828DA-5EC5-4A00-9A7B-CD9668EF2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7725" y="5028803"/>
            <a:ext cx="6696074" cy="365125"/>
          </a:xfrm>
        </p:spPr>
        <p:txBody>
          <a:bodyPr anchor="b">
            <a:normAutofit/>
          </a:bodyPr>
          <a:lstStyle>
            <a:lvl1pPr marL="0" indent="0" algn="l">
              <a:buNone/>
              <a:defRPr sz="16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303E9A-96BC-4283-A6E1-5948AEB119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76774" y="6356350"/>
            <a:ext cx="169545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19C49-052B-4D3E-B227-1D787463C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3699" y="6356350"/>
            <a:ext cx="25431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E724A-95F0-41B6-A77E-EDD067272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8350" y="6356350"/>
            <a:ext cx="1695450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065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28568" y="5084524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578300" y="5084524"/>
            <a:ext cx="233081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1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068964" y="5084524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488845" y="5084524"/>
            <a:ext cx="231770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3C911F2-9041-416A-B83C-F23B354E0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334250" y="0"/>
            <a:ext cx="4857750" cy="1724025"/>
            <a:chOff x="7334250" y="0"/>
            <a:chExt cx="4857750" cy="172402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E4B72DA-52CB-4D39-A342-8857B4D959B2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1D9BCDA-DFB7-41A4-A7C7-CEE86CEDCB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1227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87AAB93-862D-455E-9E73-3D0DAEFDE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473953"/>
            <a:ext cx="12192000" cy="5621336"/>
            <a:chOff x="0" y="473953"/>
            <a:chExt cx="12192000" cy="5621336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B0DFD584-E5CF-41EF-B51E-679CE22DDF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73953"/>
              <a:ext cx="2057400" cy="1647825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5C02DDF-25A6-42C7-9525-F279CE2095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049000" y="5180889"/>
              <a:ext cx="1143000" cy="9144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500168" y="3809747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49262" y="3809747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1938DB4D-239F-4E8E-8802-0470B013118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65558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98355" y="3654378"/>
            <a:ext cx="2105135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095999" y="3809747"/>
            <a:ext cx="22998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4480" y="3809747"/>
            <a:ext cx="184412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500168" y="566858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849262" y="566858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E029C5CA-EDDA-4BF9-9051-8B09E98EE1E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65558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339926" y="5668583"/>
            <a:ext cx="1813474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744480" y="5668583"/>
            <a:ext cx="184412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120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786F69D-D4FA-4075-A7EC-8D31A184F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6988B2D-0240-4256-8268-4B9FF1E7236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8EEAAE1-3D04-41C3-B2D2-B3BEF34C3B2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11375"/>
            <a:ext cx="10515600" cy="3744913"/>
          </a:xfrm>
        </p:spPr>
        <p:txBody>
          <a:bodyPr/>
          <a:lstStyle/>
          <a:p>
            <a:r>
              <a:rPr lang="en-US"/>
              <a:t>Click icon to add SmartArt graphic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11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6074" y="1507772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2131" y="2584097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38556" y="3660422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22756" y="4736748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6" y="1613528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9" y="2682564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8" y="3755394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80" y="4824430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9143" y="6356350"/>
            <a:ext cx="377598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259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2368EF4-1233-48C7-8DB5-75844BFCD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238376" cy="3105150"/>
            <a:chOff x="0" y="0"/>
            <a:chExt cx="2238376" cy="31051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63D7850-C2A6-43CE-BBE4-8E81A0A593B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BAD3E03-2E3B-440C-9105-6F9D33006D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8896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74AA03A-263D-4B5F-B05B-7D6923A9A4D3}"/>
              </a:ext>
            </a:extLst>
          </p:cNvPr>
          <p:cNvGrpSpPr/>
          <p:nvPr userDrawn="1"/>
        </p:nvGrpSpPr>
        <p:grpSpPr>
          <a:xfrm>
            <a:off x="0" y="0"/>
            <a:ext cx="4762501" cy="5186363"/>
            <a:chOff x="0" y="0"/>
            <a:chExt cx="4762501" cy="5186363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87F08D6-2CA7-4A5A-BE34-07113DCA535D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768C87F-B9C3-4DFF-8454-F3F52CE4346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1371997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1" r:id="rId4"/>
    <p:sldLayoutId id="2147483666" r:id="rId5"/>
    <p:sldLayoutId id="2147483667" r:id="rId6"/>
    <p:sldLayoutId id="2147483654" r:id="rId7"/>
    <p:sldLayoutId id="2147483663" r:id="rId8"/>
    <p:sldLayoutId id="2147483662" r:id="rId9"/>
    <p:sldLayoutId id="2147483668" r:id="rId10"/>
    <p:sldLayoutId id="2147483652" r:id="rId11"/>
    <p:sldLayoutId id="2147483653" r:id="rId12"/>
    <p:sldLayoutId id="2147483660" r:id="rId13"/>
    <p:sldLayoutId id="2147483664" r:id="rId14"/>
    <p:sldLayoutId id="2147483665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8F4EF4-91F5-0EFA-7491-C6CFF923F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779" y="962755"/>
            <a:ext cx="10074441" cy="2069433"/>
          </a:xfrm>
        </p:spPr>
        <p:txBody>
          <a:bodyPr anchor="t">
            <a:noAutofit/>
          </a:bodyPr>
          <a:lstStyle/>
          <a:p>
            <a:pPr algn="ctr"/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SoEN 6441 Advanced Programming Practices Project </a:t>
            </a:r>
            <a:b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-Winter 2024</a:t>
            </a:r>
            <a:endParaRPr lang="en-IN"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36A1B4-B8D1-4A72-8E20-0703F54BF1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5534" y="3032188"/>
            <a:ext cx="6717631" cy="2258829"/>
          </a:xfrm>
        </p:spPr>
        <p:txBody>
          <a:bodyPr>
            <a:no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1: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Team 09</a:t>
            </a:r>
          </a:p>
          <a:p>
            <a:pPr lvl="6" algn="l">
              <a:buFont typeface="Arial" panose="020B0604020202020204" pitchFamily="34" charset="0"/>
              <a:buChar char="•"/>
            </a:pPr>
            <a:r>
              <a:rPr lang="en-IN" sz="1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Jayasurya </a:t>
            </a:r>
            <a:r>
              <a:rPr lang="en-IN" sz="180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Pazhani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[40289512]</a:t>
            </a:r>
            <a:endParaRPr lang="en-IN" sz="180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6" algn="l">
              <a:buFont typeface="Arial" panose="020B0604020202020204" pitchFamily="34" charset="0"/>
              <a:buChar char="•"/>
            </a:pPr>
            <a:r>
              <a:rPr lang="en-IN" sz="1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Jayanth </a:t>
            </a:r>
            <a:r>
              <a:rPr lang="en-IN" sz="180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Apagundi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[40291184]</a:t>
            </a:r>
            <a:endParaRPr lang="en-IN" sz="180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6" algn="l">
              <a:buFont typeface="Arial" panose="020B0604020202020204" pitchFamily="34" charset="0"/>
              <a:buChar char="•"/>
            </a:pPr>
            <a:r>
              <a:rPr lang="en-IN" sz="180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Shuvanidhi</a:t>
            </a:r>
            <a:r>
              <a:rPr lang="en-IN" sz="1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Suresh [40293590]</a:t>
            </a:r>
          </a:p>
          <a:p>
            <a:pPr lvl="6" algn="l">
              <a:buFont typeface="Arial" panose="020B0604020202020204" pitchFamily="34" charset="0"/>
              <a:buChar char="•"/>
            </a:pPr>
            <a:r>
              <a:rPr lang="en-IN" sz="180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Shahul</a:t>
            </a:r>
            <a:r>
              <a:rPr lang="en-IN" sz="1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Hameed [40290787]</a:t>
            </a:r>
          </a:p>
          <a:p>
            <a:pPr lvl="6" algn="l">
              <a:buFont typeface="Arial" panose="020B0604020202020204" pitchFamily="34" charset="0"/>
              <a:buChar char="•"/>
            </a:pPr>
            <a:r>
              <a:rPr lang="en-IN" sz="1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Vinisha Kora Venkatesalu [40293927]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875662-E8E3-39E7-797C-9D9F0293A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77199"/>
            <a:ext cx="4139543" cy="11888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B46E03-F2E1-C7EE-2BD2-7A8FBCAF417A}"/>
              </a:ext>
            </a:extLst>
          </p:cNvPr>
          <p:cNvSpPr txBox="1"/>
          <p:nvPr/>
        </p:nvSpPr>
        <p:spPr>
          <a:xfrm>
            <a:off x="4349367" y="5677199"/>
            <a:ext cx="34932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 Joey Paquet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401320"/>
            <a:ext cx="289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362200"/>
            <a:ext cx="2895600" cy="2519363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Layout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Naming Conventions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Commenting Conventions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Structure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91F00-87A7-45A6-8029-B097FA724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9816" y="409115"/>
            <a:ext cx="4712368" cy="940552"/>
          </a:xfrm>
        </p:spPr>
        <p:txBody>
          <a:bodyPr>
            <a:noAutofit/>
          </a:bodyPr>
          <a:lstStyle/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Layout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1787E-7110-4989-B0B8-DD4E0ACC0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314702" y="1412039"/>
            <a:ext cx="9834562" cy="44116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Consistent layout is maintained throughout the codebase, ensuring uniformity and making the code easier to understand and maintain.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Indentation: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indentation is consistently maintained throughout the codebase, ensuring clarity in the code's structure and hierarchy.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Auto-formatter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IDE auto-formatter is utilized to ensure consistent code formatting, reducing manual effort and maintaining code style consistency.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 of Code Elements: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elements, such as variable declarations and method invocations, are aligned vertically for improved readability and visual appeal.</a:t>
            </a:r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C50C2E-DA94-7F69-F1C6-AB2FCFDCA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11">
            <a:extLst>
              <a:ext uri="{FF2B5EF4-FFF2-40B4-BE49-F238E27FC236}">
                <a16:creationId xmlns:a16="http://schemas.microsoft.com/office/drawing/2014/main" id="{AC3EB81D-71CA-C0EA-DDE3-09678180D9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6375" y="0"/>
            <a:ext cx="3105150" cy="942975"/>
          </a:xfrm>
        </p:spPr>
        <p:txBody>
          <a:bodyPr>
            <a:noAutofit/>
          </a:bodyPr>
          <a:lstStyle/>
          <a:p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Continent.java</a:t>
            </a:r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65974-F5BE-56FF-7778-4D5F37AD7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B27CB1-64C7-D6A3-6723-143346ECE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1064471"/>
            <a:ext cx="9796694" cy="514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892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7269C-953D-5C48-1F00-67B385A8C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EC880-9D10-09D8-52AF-6B52D286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894" y="471487"/>
            <a:ext cx="6612356" cy="940552"/>
          </a:xfrm>
        </p:spPr>
        <p:txBody>
          <a:bodyPr>
            <a:noAutofit/>
          </a:bodyPr>
          <a:lstStyle/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Naming Conventions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A0441-DB2B-CE51-14BD-33B8E583B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ADFE5-9790-A47D-D301-A7EFCC850CD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314702" y="1412039"/>
            <a:ext cx="9834562" cy="4411663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2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Names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Class names follow the CamelCase convention, starting with a capital letter (e.g.,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GameEngineController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Continent).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Members: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members start with the 'd-' prefix, ensuring clarity and distinction from other variables (e.g.,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d_continentID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d_gameState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Parameters: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parameters start with the 'p-' prefix, making them easily recognizable and differentiating them from other variables (e.g.,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p_enteredCommand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p_args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>
              <a:lnSpc>
                <a:spcPct val="12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Members: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members start with a capital letter, while non-static members start with a lowercase letter, adhering to Java conventions and ensuring consistency (e.g.,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d_gameState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MAPFILEEXTENSION).</a:t>
            </a:r>
          </a:p>
          <a:p>
            <a:pPr algn="just">
              <a:lnSpc>
                <a:spcPct val="12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281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4C912-678D-01AB-A2A2-61ED4A412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11B8F-C048-20D1-894F-F4762A33A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79DD5E-671D-7450-2A17-D19C03C17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276" y="1064525"/>
            <a:ext cx="5707118" cy="22500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77E78F-C6C0-4C72-667A-1ADFA944E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03" y="4668458"/>
            <a:ext cx="10877273" cy="1687892"/>
          </a:xfrm>
          <a:prstGeom prst="rect">
            <a:avLst/>
          </a:prstGeom>
        </p:spPr>
      </p:pic>
      <p:sp>
        <p:nvSpPr>
          <p:cNvPr id="11" name="Subtitle 11">
            <a:extLst>
              <a:ext uri="{FF2B5EF4-FFF2-40B4-BE49-F238E27FC236}">
                <a16:creationId xmlns:a16="http://schemas.microsoft.com/office/drawing/2014/main" id="{50D95F97-7515-EA8F-9C24-62F17B8041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3611" y="3629558"/>
            <a:ext cx="4104777" cy="723900"/>
          </a:xfrm>
        </p:spPr>
        <p:txBody>
          <a:bodyPr>
            <a:noAutofit/>
          </a:bodyPr>
          <a:lstStyle/>
          <a:p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CommonUtil.java</a:t>
            </a:r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ubtitle 11">
            <a:extLst>
              <a:ext uri="{FF2B5EF4-FFF2-40B4-BE49-F238E27FC236}">
                <a16:creationId xmlns:a16="http://schemas.microsoft.com/office/drawing/2014/main" id="{ED91704F-8CEE-8C17-6F42-E37C968EB22B}"/>
              </a:ext>
            </a:extLst>
          </p:cNvPr>
          <p:cNvSpPr txBox="1">
            <a:spLocks/>
          </p:cNvSpPr>
          <p:nvPr/>
        </p:nvSpPr>
        <p:spPr>
          <a:xfrm>
            <a:off x="4343898" y="202071"/>
            <a:ext cx="3704727" cy="6256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GameState.java</a:t>
            </a:r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568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D603D-B05A-C393-1582-FE87EADF8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5012A-C7EB-F6A7-CB91-2455E4F88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B27E3D-630C-6750-9776-B8C5C1C73F0E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952752" y="554789"/>
            <a:ext cx="9834562" cy="44116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Variables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Local variables start with lowercase letters, enhancing readability and avoiding confusion (e.g.,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l_reader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l_map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Variables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Global variables are in all capital letters, indicating their significance and scope (e.g., APPLICATION_CONSTANTS, COLORS).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1877C0-1911-4166-B7EB-C9E557621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189" y="2718917"/>
            <a:ext cx="6311058" cy="39373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9189C9-FF17-9CDE-E4CB-3E99214A1B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5941"/>
          <a:stretch/>
        </p:blipFill>
        <p:spPr>
          <a:xfrm>
            <a:off x="386585" y="2718917"/>
            <a:ext cx="5210644" cy="12772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DB54C2-ACD9-7A16-71F3-78111BD0D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584" y="4108815"/>
            <a:ext cx="5210645" cy="254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717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8D246-B36A-6578-C0F0-8475898C4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5D2E7-421E-CBD2-336E-F0254360E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989" y="390416"/>
            <a:ext cx="9342021" cy="777315"/>
          </a:xfrm>
        </p:spPr>
        <p:txBody>
          <a:bodyPr>
            <a:noAutofit/>
          </a:bodyPr>
          <a:lstStyle/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Commenting Conventions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C21A9-8A82-437C-5835-094AAE84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F3113-8D3E-A472-6A79-9584DBE30FD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195512" y="1443956"/>
            <a:ext cx="9800974" cy="371241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Javadoc Comments: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Javadoc comments are provided for every class and method, documenting their purpose, parameters, and return values, improving code documentation and understandability.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Methods: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methods (more than 10 lines) are documented with comments for procedural steps, enhancing readability and facilitating code comprehension (e.g.,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initGamePlay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method).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Commented-out Code: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commented-out code present in the codebase, promoting cleanliness and preventing confusion or clutter.</a:t>
            </a:r>
          </a:p>
        </p:txBody>
      </p:sp>
    </p:spTree>
    <p:extLst>
      <p:ext uri="{BB962C8B-B14F-4D97-AF65-F5344CB8AC3E}">
        <p14:creationId xmlns:p14="http://schemas.microsoft.com/office/powerpoint/2010/main" val="413351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5743A-6336-12A4-615A-159E2A1C4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2B3F5-A960-EFC3-985A-45F0D59E1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894" y="277855"/>
            <a:ext cx="6176211" cy="940552"/>
          </a:xfrm>
        </p:spPr>
        <p:txBody>
          <a:bodyPr>
            <a:noAutofit/>
          </a:bodyPr>
          <a:lstStyle/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Structure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49D99-6770-FCE5-55BD-722E2CA43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696B0F-06C9-9153-F963-20E75AEF9F1E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295652" y="1469189"/>
            <a:ext cx="9834562" cy="44116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Organization: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folder is created for every module in the high-level design, promoting organization and clarity in project structure.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Test Folder: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Tests are placed in a separate folder with the same structure as the code folder, ensuring a clear separation between production code and tests.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1-1 Relationship between Tested Classes and Test 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There is a 1-1 relationship between tested classes and test classes, following best practices in unit testing and ensuring comprehensive test coverage.</a:t>
            </a:r>
          </a:p>
        </p:txBody>
      </p:sp>
    </p:spTree>
    <p:extLst>
      <p:ext uri="{BB962C8B-B14F-4D97-AF65-F5344CB8AC3E}">
        <p14:creationId xmlns:p14="http://schemas.microsoft.com/office/powerpoint/2010/main" val="335019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E5F11-B7B9-4B80-8C6A-A8A7A7190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29137" y="2807369"/>
            <a:ext cx="5283467" cy="880539"/>
          </a:xfrm>
        </p:spPr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79728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 presentation" id="{11346FDE-2DA4-453A-ACF7-41117CE5C235}" vid="{A628C74B-DC45-4C37-9A15-B37206CA45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  <Background xmlns="71af3243-3dd4-4a8d-8c0d-dd76da1f02a5">false</Background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C7F809-A434-4A8D-A127-1C50C2DB389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D5826B4-4DD2-4A9B-8D6D-E91CF9C2316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E6EE1E-660B-46C6-AC21-8E505FB957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presentation</Template>
  <TotalTime>106</TotalTime>
  <Words>533</Words>
  <Application>Microsoft Office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Tenorite</vt:lpstr>
      <vt:lpstr>Times New Roman</vt:lpstr>
      <vt:lpstr>Office Theme</vt:lpstr>
      <vt:lpstr>SoEN 6441 Advanced Programming Practices Project   -Winter 2024</vt:lpstr>
      <vt:lpstr>AGENDA</vt:lpstr>
      <vt:lpstr>Code Layout</vt:lpstr>
      <vt:lpstr>PowerPoint Presentation</vt:lpstr>
      <vt:lpstr>Naming Conventions</vt:lpstr>
      <vt:lpstr>PowerPoint Presentation</vt:lpstr>
      <vt:lpstr>PowerPoint Presentation</vt:lpstr>
      <vt:lpstr>Commenting Conventions</vt:lpstr>
      <vt:lpstr>Project Structure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SoEN 6441 Advanced Programming practices Project – Winter 2024 </dc:title>
  <dc:creator>Vinisha Kora Venkatesalu</dc:creator>
  <cp:lastModifiedBy>Vinisha Kora Venkatesalu</cp:lastModifiedBy>
  <cp:revision>4</cp:revision>
  <dcterms:created xsi:type="dcterms:W3CDTF">2024-02-18T20:12:29Z</dcterms:created>
  <dcterms:modified xsi:type="dcterms:W3CDTF">2024-02-18T22:07:47Z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